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2" r:id="rId7"/>
    <p:sldId id="261" r:id="rId8"/>
    <p:sldId id="264" r:id="rId9"/>
    <p:sldId id="265" r:id="rId10"/>
  </p:sldIdLst>
  <p:sldSz cx="18288000" cy="10287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874159-0707-42D2-805E-22CB55E36BAA}" v="56" dt="2026-04-02T10:54:12.4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62" y="22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4C91FB-99AB-4B23-A69A-64860A24CF37}" type="datetimeFigureOut">
              <a:rPr lang="en-IN" smtClean="0"/>
              <a:t>02-04-2026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5C8184-B57F-4E85-A15F-CCA500B0CAAB}" type="slidenum">
              <a:rPr lang="en-IN" smtClean="0"/>
              <a:t>‹#›</a:t>
            </a:fld>
            <a:endParaRPr lang="en-IN"/>
          </a:p>
        </p:txBody>
      </p:sp>
    </p:spTree>
    <p:extLst>
      <p:ext uri="{BB962C8B-B14F-4D97-AF65-F5344CB8AC3E}">
        <p14:creationId xmlns:p14="http://schemas.microsoft.com/office/powerpoint/2010/main" val="2348999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5C8184-B57F-4E85-A15F-CCA500B0CAAB}" type="slidenum">
              <a:rPr lang="en-IN" smtClean="0"/>
              <a:t>9</a:t>
            </a:fld>
            <a:endParaRPr lang="en-IN"/>
          </a:p>
        </p:txBody>
      </p:sp>
    </p:spTree>
    <p:extLst>
      <p:ext uri="{BB962C8B-B14F-4D97-AF65-F5344CB8AC3E}">
        <p14:creationId xmlns:p14="http://schemas.microsoft.com/office/powerpoint/2010/main" val="155135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9313" b="-69313"/>
            </a:stretch>
          </a:blipFill>
        </p:spPr>
        <p:txBody>
          <a:bodyPr/>
          <a:lstStyle/>
          <a:p>
            <a:endParaRPr lang="en-IN" dirty="0"/>
          </a:p>
        </p:txBody>
      </p:sp>
      <p:grpSp>
        <p:nvGrpSpPr>
          <p:cNvPr id="3" name="Group 3"/>
          <p:cNvGrpSpPr/>
          <p:nvPr/>
        </p:nvGrpSpPr>
        <p:grpSpPr>
          <a:xfrm>
            <a:off x="1153933" y="2694198"/>
            <a:ext cx="16230600" cy="149974"/>
            <a:chOff x="0" y="0"/>
            <a:chExt cx="4052983" cy="37450"/>
          </a:xfrm>
        </p:grpSpPr>
        <p:sp>
          <p:nvSpPr>
            <p:cNvPr id="4" name="Freeform 4"/>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txBody>
            <a:bodyPr/>
            <a:lstStyle/>
            <a:p>
              <a:endParaRPr lang="en-IN"/>
            </a:p>
          </p:txBody>
        </p:sp>
        <p:sp>
          <p:nvSpPr>
            <p:cNvPr id="5" name="TextBox 5"/>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txBody>
          <a:bodyPr/>
          <a:lstStyle/>
          <a:p>
            <a:endParaRPr lang="en-IN"/>
          </a:p>
        </p:txBody>
      </p:sp>
      <p:sp>
        <p:nvSpPr>
          <p:cNvPr id="7" name="Freeform 7"/>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txBody>
          <a:bodyPr/>
          <a:lstStyle/>
          <a:p>
            <a:endParaRPr lang="en-IN"/>
          </a:p>
        </p:txBody>
      </p:sp>
      <p:sp>
        <p:nvSpPr>
          <p:cNvPr id="8" name="TextBox 8"/>
          <p:cNvSpPr txBox="1"/>
          <p:nvPr/>
        </p:nvSpPr>
        <p:spPr>
          <a:xfrm>
            <a:off x="4173024" y="365758"/>
            <a:ext cx="10395942" cy="1116334"/>
          </a:xfrm>
          <a:prstGeom prst="rect">
            <a:avLst/>
          </a:prstGeom>
        </p:spPr>
        <p:txBody>
          <a:bodyPr lIns="0" tIns="0" rIns="0" bIns="0" rtlCol="0" anchor="t">
            <a:spAutoFit/>
          </a:bodyPr>
          <a:lstStyle/>
          <a:p>
            <a:pPr algn="ctr">
              <a:lnSpc>
                <a:spcPts val="9059"/>
              </a:lnSpc>
              <a:spcBef>
                <a:spcPct val="0"/>
              </a:spcBef>
            </a:pPr>
            <a:r>
              <a:rPr lang="en-US" sz="5999" b="1" spc="-215">
                <a:solidFill>
                  <a:srgbClr val="FFFFFF"/>
                </a:solidFill>
                <a:latin typeface="Times New Roman Bold"/>
                <a:ea typeface="Times New Roman Bold"/>
                <a:cs typeface="Times New Roman Bold"/>
                <a:sym typeface="Times New Roman Bold"/>
              </a:rPr>
              <a:t>HACK MATRIX HACKATHON </a:t>
            </a:r>
          </a:p>
        </p:txBody>
      </p:sp>
      <p:sp>
        <p:nvSpPr>
          <p:cNvPr id="9" name="TextBox 9"/>
          <p:cNvSpPr txBox="1"/>
          <p:nvPr/>
        </p:nvSpPr>
        <p:spPr>
          <a:xfrm>
            <a:off x="7363982" y="1687516"/>
            <a:ext cx="3301157" cy="866650"/>
          </a:xfrm>
          <a:prstGeom prst="rect">
            <a:avLst/>
          </a:prstGeom>
        </p:spPr>
        <p:txBody>
          <a:bodyPr lIns="0" tIns="0" rIns="0" bIns="0" rtlCol="0" anchor="t">
            <a:spAutoFit/>
          </a:bodyPr>
          <a:lstStyle/>
          <a:p>
            <a:pPr algn="ctr">
              <a:lnSpc>
                <a:spcPts val="6945"/>
              </a:lnSpc>
              <a:spcBef>
                <a:spcPct val="0"/>
              </a:spcBef>
            </a:pPr>
            <a:r>
              <a:rPr lang="en-US" sz="4599" b="1" spc="-165">
                <a:solidFill>
                  <a:srgbClr val="FFFFFF"/>
                </a:solidFill>
                <a:latin typeface="Times New Roman Bold"/>
                <a:ea typeface="Times New Roman Bold"/>
                <a:cs typeface="Times New Roman Bold"/>
                <a:sym typeface="Times New Roman Bold"/>
              </a:rPr>
              <a:t>TITLE PAGE</a:t>
            </a:r>
          </a:p>
        </p:txBody>
      </p:sp>
      <p:sp>
        <p:nvSpPr>
          <p:cNvPr id="10" name="TextBox 10"/>
          <p:cNvSpPr txBox="1"/>
          <p:nvPr/>
        </p:nvSpPr>
        <p:spPr>
          <a:xfrm>
            <a:off x="485956" y="3568777"/>
            <a:ext cx="15492710" cy="557845"/>
          </a:xfrm>
          <a:prstGeom prst="rect">
            <a:avLst/>
          </a:prstGeom>
        </p:spPr>
        <p:txBody>
          <a:bodyPr wrap="square" lIns="0" tIns="0" rIns="0" bIns="0" rtlCol="0" anchor="t">
            <a:spAutoFit/>
          </a:bodyPr>
          <a:lstStyle/>
          <a:p>
            <a:pPr marL="690874" lvl="1" indent="-345437" algn="l">
              <a:lnSpc>
                <a:spcPts val="4831"/>
              </a:lnSpc>
              <a:spcBef>
                <a:spcPct val="0"/>
              </a:spcBef>
              <a:buFont typeface="Arial"/>
              <a:buChar char="•"/>
            </a:pPr>
            <a:r>
              <a:rPr lang="en-US" sz="3199" b="1" spc="-115" dirty="0">
                <a:solidFill>
                  <a:srgbClr val="FFFFFF"/>
                </a:solidFill>
                <a:latin typeface="Times New Roman Bold"/>
                <a:ea typeface="Times New Roman Bold"/>
                <a:cs typeface="Times New Roman Bold"/>
                <a:sym typeface="Times New Roman Bold"/>
              </a:rPr>
              <a:t>PROJECT TITLE : Campus Lost and Found  </a:t>
            </a:r>
          </a:p>
        </p:txBody>
      </p:sp>
      <p:sp>
        <p:nvSpPr>
          <p:cNvPr id="11" name="TextBox 11"/>
          <p:cNvSpPr txBox="1"/>
          <p:nvPr/>
        </p:nvSpPr>
        <p:spPr>
          <a:xfrm>
            <a:off x="476504" y="5243019"/>
            <a:ext cx="8667495" cy="557845"/>
          </a:xfrm>
          <a:prstGeom prst="rect">
            <a:avLst/>
          </a:prstGeom>
        </p:spPr>
        <p:txBody>
          <a:bodyPr wrap="square" lIns="0" tIns="0" rIns="0" bIns="0" rtlCol="0" anchor="t">
            <a:spAutoFit/>
          </a:bodyPr>
          <a:lstStyle/>
          <a:p>
            <a:pPr marL="690874" lvl="1" indent="-345437" algn="l">
              <a:lnSpc>
                <a:spcPts val="4831"/>
              </a:lnSpc>
              <a:spcBef>
                <a:spcPct val="0"/>
              </a:spcBef>
              <a:buFont typeface="Arial"/>
              <a:buChar char="•"/>
            </a:pPr>
            <a:r>
              <a:rPr lang="en-US" sz="3199" b="1" spc="-115" dirty="0">
                <a:solidFill>
                  <a:srgbClr val="FFFFFF"/>
                </a:solidFill>
                <a:latin typeface="Times New Roman Bold"/>
                <a:ea typeface="Times New Roman Bold"/>
                <a:cs typeface="Times New Roman Bold"/>
                <a:sym typeface="Times New Roman Bold"/>
              </a:rPr>
              <a:t>TEAM NAME : Team Agni</a:t>
            </a:r>
          </a:p>
        </p:txBody>
      </p:sp>
      <p:sp>
        <p:nvSpPr>
          <p:cNvPr id="12" name="TextBox 12"/>
          <p:cNvSpPr txBox="1"/>
          <p:nvPr/>
        </p:nvSpPr>
        <p:spPr>
          <a:xfrm>
            <a:off x="485955" y="6919947"/>
            <a:ext cx="16898577" cy="557845"/>
          </a:xfrm>
          <a:prstGeom prst="rect">
            <a:avLst/>
          </a:prstGeom>
        </p:spPr>
        <p:txBody>
          <a:bodyPr wrap="square" lIns="0" tIns="0" rIns="0" bIns="0" rtlCol="0" anchor="t">
            <a:spAutoFit/>
          </a:bodyPr>
          <a:lstStyle/>
          <a:p>
            <a:pPr marL="690874" lvl="1" indent="-345437" algn="l">
              <a:lnSpc>
                <a:spcPts val="4831"/>
              </a:lnSpc>
              <a:spcBef>
                <a:spcPct val="0"/>
              </a:spcBef>
              <a:buFont typeface="Arial"/>
              <a:buChar char="•"/>
            </a:pPr>
            <a:r>
              <a:rPr lang="en-US" sz="3199" b="1" spc="-115" dirty="0">
                <a:solidFill>
                  <a:srgbClr val="FFFFFF"/>
                </a:solidFill>
                <a:latin typeface="Times New Roman Bold"/>
                <a:ea typeface="Times New Roman Bold"/>
                <a:cs typeface="Times New Roman Bold"/>
                <a:sym typeface="Times New Roman Bold"/>
              </a:rPr>
              <a:t>TEAM MEMBERS : Varun Kushwah , Vaidehi Gupta, Gaurav Kakkar, Aditi v=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txBody>
          <a:bodyPr/>
          <a:lstStyle/>
          <a:p>
            <a:endParaRPr lang="en-IN" dirty="0"/>
          </a:p>
        </p:txBody>
      </p:sp>
      <p:sp>
        <p:nvSpPr>
          <p:cNvPr id="3" name="TextBox 3"/>
          <p:cNvSpPr txBox="1"/>
          <p:nvPr/>
        </p:nvSpPr>
        <p:spPr>
          <a:xfrm>
            <a:off x="5836741" y="525462"/>
            <a:ext cx="6614517"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PROBLEM   STATEMENT</a:t>
            </a:r>
          </a:p>
        </p:txBody>
      </p:sp>
      <p:sp>
        <p:nvSpPr>
          <p:cNvPr id="4" name="TextBox 4"/>
          <p:cNvSpPr txBox="1"/>
          <p:nvPr/>
        </p:nvSpPr>
        <p:spPr>
          <a:xfrm>
            <a:off x="1078780" y="3181985"/>
            <a:ext cx="16834465" cy="1785232"/>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3399" b="1" spc="-271" dirty="0">
                <a:solidFill>
                  <a:schemeClr val="bg1"/>
                </a:solidFill>
                <a:latin typeface="Times New Roman Bold"/>
                <a:ea typeface="Times New Roman Bold"/>
                <a:cs typeface="Times New Roman Bold"/>
                <a:sym typeface="Times New Roman Bold"/>
              </a:rPr>
              <a:t>Describe the problem clearly .</a:t>
            </a:r>
            <a:r>
              <a:rPr lang="en-US" sz="3600" dirty="0">
                <a:solidFill>
                  <a:schemeClr val="bg1"/>
                </a:solidFill>
              </a:rPr>
              <a:t> </a:t>
            </a:r>
            <a:r>
              <a:rPr lang="en-US" sz="2800" dirty="0">
                <a:solidFill>
                  <a:schemeClr val="bg1"/>
                </a:solidFill>
              </a:rPr>
              <a:t>Lost-and-found systems are currently scattered across WhatsApp groups and informal channels, making it difficult to track, discover, and verify lost items efficiently. Additionally, existing websites fail because users are unaware of them, resulting in low visibility and unsuccessful item recovery.</a:t>
            </a:r>
            <a:r>
              <a:rPr lang="en-US" sz="2800" b="1" spc="-271" dirty="0">
                <a:solidFill>
                  <a:schemeClr val="bg1"/>
                </a:solidFill>
                <a:latin typeface="Times New Roman Bold"/>
                <a:ea typeface="Times New Roman Bold"/>
                <a:cs typeface="Times New Roman Bold"/>
                <a:sym typeface="Times New Roman Bold"/>
              </a:rPr>
              <a:t>  </a:t>
            </a:r>
          </a:p>
        </p:txBody>
      </p:sp>
      <p:sp>
        <p:nvSpPr>
          <p:cNvPr id="5" name="TextBox 5"/>
          <p:cNvSpPr txBox="1"/>
          <p:nvPr/>
        </p:nvSpPr>
        <p:spPr>
          <a:xfrm>
            <a:off x="1078781" y="5057775"/>
            <a:ext cx="17209219" cy="1798506"/>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3399" b="1" spc="-271" dirty="0">
                <a:solidFill>
                  <a:schemeClr val="bg1"/>
                </a:solidFill>
                <a:latin typeface="Times New Roman Bold"/>
                <a:ea typeface="Times New Roman Bold"/>
                <a:cs typeface="Times New Roman Bold"/>
                <a:sym typeface="Times New Roman Bold"/>
              </a:rPr>
              <a:t>Who is affected by this problem .</a:t>
            </a:r>
            <a:r>
              <a:rPr lang="en-US" sz="3600" dirty="0">
                <a:solidFill>
                  <a:schemeClr val="bg1"/>
                </a:solidFill>
              </a:rPr>
              <a:t> </a:t>
            </a:r>
            <a:r>
              <a:rPr lang="en-US" sz="3200" dirty="0">
                <a:solidFill>
                  <a:schemeClr val="bg1"/>
                </a:solidFill>
              </a:rPr>
              <a:t>Students and campus community members are most affected, as they often lose or find items but rely on scattered WhatsApp messages with no centralized system. This makes it difficult to report, track, or recover lost belongings efficiently</a:t>
            </a:r>
            <a:endParaRPr lang="en-US" sz="3200" b="1" spc="-271" dirty="0">
              <a:solidFill>
                <a:schemeClr val="bg1"/>
              </a:solidFill>
              <a:latin typeface="Times New Roman Bold"/>
              <a:ea typeface="Times New Roman Bold"/>
              <a:cs typeface="Times New Roman Bold"/>
              <a:sym typeface="Times New Roman Bold"/>
            </a:endParaRPr>
          </a:p>
        </p:txBody>
      </p:sp>
      <p:sp>
        <p:nvSpPr>
          <p:cNvPr id="6" name="TextBox 6"/>
          <p:cNvSpPr txBox="1"/>
          <p:nvPr/>
        </p:nvSpPr>
        <p:spPr>
          <a:xfrm>
            <a:off x="1057201" y="6937260"/>
            <a:ext cx="16856044" cy="1811714"/>
          </a:xfrm>
          <a:prstGeom prst="rect">
            <a:avLst/>
          </a:prstGeom>
        </p:spPr>
        <p:txBody>
          <a:bodyPr wrap="square" lIns="0" tIns="0" rIns="0" bIns="0" rtlCol="0" anchor="t">
            <a:spAutoFit/>
          </a:bodyPr>
          <a:lstStyle/>
          <a:p>
            <a:pPr marL="734056" lvl="1" indent="-367028">
              <a:lnSpc>
                <a:spcPts val="4759"/>
              </a:lnSpc>
              <a:spcBef>
                <a:spcPct val="0"/>
              </a:spcBef>
              <a:buFont typeface="Arial"/>
              <a:buChar char="•"/>
            </a:pPr>
            <a:r>
              <a:rPr lang="en-US" sz="3399" b="1" spc="-271" dirty="0">
                <a:solidFill>
                  <a:schemeClr val="bg1"/>
                </a:solidFill>
                <a:latin typeface="Times New Roman Bold"/>
                <a:ea typeface="Times New Roman Bold"/>
                <a:cs typeface="Times New Roman Bold"/>
                <a:sym typeface="Times New Roman Bold"/>
              </a:rPr>
              <a:t>Why this problem is important ?</a:t>
            </a:r>
            <a:r>
              <a:rPr lang="en-US" sz="3600" dirty="0">
                <a:solidFill>
                  <a:schemeClr val="bg1"/>
                </a:solidFill>
              </a:rPr>
              <a:t> This problem is important because lost items often have high personal or financial value, and the lack of a centralized system leads to low recovery rates, wasted time, and frustration</a:t>
            </a:r>
            <a:endParaRPr lang="en-US" sz="3399" b="1" spc="-271" dirty="0">
              <a:solidFill>
                <a:schemeClr val="bg1"/>
              </a:solidFill>
              <a:latin typeface="Times New Roman Bold"/>
              <a:ea typeface="Times New Roman Bold"/>
              <a:cs typeface="Times New Roman Bold"/>
              <a:sym typeface="Times New Roman Bold"/>
            </a:endParaRPr>
          </a:p>
        </p:txBody>
      </p:sp>
      <p:grpSp>
        <p:nvGrpSpPr>
          <p:cNvPr id="7" name="Group 7"/>
          <p:cNvGrpSpPr/>
          <p:nvPr/>
        </p:nvGrpSpPr>
        <p:grpSpPr>
          <a:xfrm>
            <a:off x="1078780" y="2091394"/>
            <a:ext cx="16230600" cy="302551"/>
            <a:chOff x="0" y="-38100"/>
            <a:chExt cx="4052983" cy="755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txBody>
            <a:bodyPr/>
            <a:lstStyle/>
            <a:p>
              <a:endParaRPr lang="en-IN" dirty="0"/>
            </a:p>
          </p:txBody>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txBody>
          <a:bodyPr/>
          <a:lstStyle/>
          <a:p>
            <a:endParaRPr lang="en-IN"/>
          </a:p>
        </p:txBody>
      </p:sp>
      <p:sp>
        <p:nvSpPr>
          <p:cNvPr id="11" name="Freeform 11"/>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txBody>
          <a:bodyPr/>
          <a:lstStyle/>
          <a:p>
            <a:endParaRPr lang="en-IN"/>
          </a:p>
        </p:txBody>
      </p:sp>
      <p:sp>
        <p:nvSpPr>
          <p:cNvPr id="12" name="Rectangle 1">
            <a:extLst>
              <a:ext uri="{FF2B5EF4-FFF2-40B4-BE49-F238E27FC236}">
                <a16:creationId xmlns:a16="http://schemas.microsoft.com/office/drawing/2014/main" id="{CEE8F20C-7729-A82C-C97E-21120DF6729B}"/>
              </a:ext>
            </a:extLst>
          </p:cNvPr>
          <p:cNvSpPr>
            <a:spLocks noChangeArrowheads="1"/>
          </p:cNvSpPr>
          <p:nvPr/>
        </p:nvSpPr>
        <p:spPr bwMode="auto">
          <a:xfrm>
            <a:off x="0" y="0"/>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This problem is important because lost items often have high personal or financial value, and the lack of a centralized system leads to low recovery rates, wasted time, and frustration. Solving it improves efficiency, trust, and convenience within the community.</a:t>
            </a:r>
          </a:p>
        </p:txBody>
      </p:sp>
      <p:sp>
        <p:nvSpPr>
          <p:cNvPr id="13" name="Rectangle 2">
            <a:extLst>
              <a:ext uri="{FF2B5EF4-FFF2-40B4-BE49-F238E27FC236}">
                <a16:creationId xmlns:a16="http://schemas.microsoft.com/office/drawing/2014/main" id="{083623A3-ACED-7B66-7576-3FD5F45E862A}"/>
              </a:ext>
            </a:extLst>
          </p:cNvPr>
          <p:cNvSpPr>
            <a:spLocks noChangeArrowheads="1"/>
          </p:cNvSpPr>
          <p:nvPr/>
        </p:nvSpPr>
        <p:spPr bwMode="auto">
          <a:xfrm>
            <a:off x="152400" y="152400"/>
            <a:ext cx="182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This problem is important because lost items often have high personal or financial value, and the lack of a centralized system leads to low recovery rates, wasted time, and frustration. Solving it improves efficiency, trust, and convenience within the community.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txBody>
          <a:bodyPr/>
          <a:lstStyle/>
          <a:p>
            <a:endParaRPr lang="en-IN"/>
          </a:p>
        </p:txBody>
      </p:sp>
      <p:sp>
        <p:nvSpPr>
          <p:cNvPr id="3" name="TextBox 3"/>
          <p:cNvSpPr txBox="1"/>
          <p:nvPr/>
        </p:nvSpPr>
        <p:spPr>
          <a:xfrm>
            <a:off x="4369709" y="525462"/>
            <a:ext cx="9308753"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EXISTING  SOLUTIONS  AND  GAPS</a:t>
            </a:r>
          </a:p>
        </p:txBody>
      </p:sp>
      <p:sp>
        <p:nvSpPr>
          <p:cNvPr id="4" name="TextBox 4"/>
          <p:cNvSpPr txBox="1"/>
          <p:nvPr/>
        </p:nvSpPr>
        <p:spPr>
          <a:xfrm>
            <a:off x="1221871" y="2920597"/>
            <a:ext cx="16931217" cy="6032421"/>
          </a:xfrm>
          <a:prstGeom prst="rect">
            <a:avLst/>
          </a:prstGeom>
        </p:spPr>
        <p:txBody>
          <a:bodyPr wrap="square" lIns="0" tIns="0" rIns="0" bIns="0" rtlCol="0" anchor="t">
            <a:spAutoFit/>
          </a:bodyPr>
          <a:lstStyle/>
          <a:p>
            <a:r>
              <a:rPr lang="en-US" sz="2800" b="1" dirty="0">
                <a:solidFill>
                  <a:schemeClr val="bg1"/>
                </a:solidFill>
              </a:rPr>
              <a:t>1. List of existing solutions:</a:t>
            </a:r>
            <a:endParaRPr lang="en-US" sz="2800" dirty="0">
              <a:solidFill>
                <a:schemeClr val="bg1"/>
              </a:solidFill>
            </a:endParaRPr>
          </a:p>
          <a:p>
            <a:r>
              <a:rPr lang="en-US" sz="2800" dirty="0">
                <a:solidFill>
                  <a:schemeClr val="bg1"/>
                </a:solidFill>
              </a:rPr>
              <a:t>WhatsApp groups where people post lost/found items </a:t>
            </a:r>
          </a:p>
          <a:p>
            <a:r>
              <a:rPr lang="en-US" sz="2800" dirty="0">
                <a:solidFill>
                  <a:schemeClr val="bg1"/>
                </a:solidFill>
              </a:rPr>
              <a:t>Notice boards and word-of-mouth communication </a:t>
            </a:r>
          </a:p>
          <a:p>
            <a:r>
              <a:rPr lang="en-US" sz="2800" dirty="0">
                <a:solidFill>
                  <a:schemeClr val="bg1"/>
                </a:solidFill>
              </a:rPr>
              <a:t>Some basic lost-and-found websites or apps </a:t>
            </a:r>
          </a:p>
          <a:p>
            <a:r>
              <a:rPr lang="en-US" sz="2800" b="1" dirty="0">
                <a:solidFill>
                  <a:schemeClr val="bg1"/>
                </a:solidFill>
              </a:rPr>
              <a:t>2. Their limitations:</a:t>
            </a:r>
            <a:endParaRPr lang="en-US" sz="2800" dirty="0">
              <a:solidFill>
                <a:schemeClr val="bg1"/>
              </a:solidFill>
            </a:endParaRPr>
          </a:p>
          <a:p>
            <a:r>
              <a:rPr lang="en-US" sz="2800" dirty="0">
                <a:solidFill>
                  <a:schemeClr val="bg1"/>
                </a:solidFill>
              </a:rPr>
              <a:t>Messages in WhatsApp get buried and are hard to track </a:t>
            </a:r>
          </a:p>
          <a:p>
            <a:r>
              <a:rPr lang="en-US" sz="2800" dirty="0">
                <a:solidFill>
                  <a:schemeClr val="bg1"/>
                </a:solidFill>
              </a:rPr>
              <a:t>No centralized or searchable system </a:t>
            </a:r>
          </a:p>
          <a:p>
            <a:r>
              <a:rPr lang="en-US" sz="2800" dirty="0">
                <a:solidFill>
                  <a:schemeClr val="bg1"/>
                </a:solidFill>
              </a:rPr>
              <a:t>Notice boards have limited reach and are not real-time </a:t>
            </a:r>
          </a:p>
          <a:p>
            <a:r>
              <a:rPr lang="en-US" sz="2800" dirty="0">
                <a:solidFill>
                  <a:schemeClr val="bg1"/>
                </a:solidFill>
              </a:rPr>
              <a:t>Websites/apps fail because users are unaware of them or don’t check them regularly </a:t>
            </a:r>
          </a:p>
          <a:p>
            <a:r>
              <a:rPr lang="en-US" sz="2800" b="1" dirty="0">
                <a:solidFill>
                  <a:schemeClr val="bg1"/>
                </a:solidFill>
              </a:rPr>
              <a:t>3. Gap your project will address:</a:t>
            </a:r>
            <a:endParaRPr lang="en-US" sz="2800" dirty="0">
              <a:solidFill>
                <a:schemeClr val="bg1"/>
              </a:solidFill>
            </a:endParaRPr>
          </a:p>
          <a:p>
            <a:r>
              <a:rPr lang="en-US" sz="2800" dirty="0">
                <a:solidFill>
                  <a:schemeClr val="bg1"/>
                </a:solidFill>
              </a:rPr>
              <a:t>Combine WhatsApp (high usage) with a centralized website </a:t>
            </a:r>
          </a:p>
          <a:p>
            <a:r>
              <a:rPr lang="en-US" sz="2800" dirty="0">
                <a:solidFill>
                  <a:schemeClr val="bg1"/>
                </a:solidFill>
              </a:rPr>
              <a:t>Automatically capture and organize lost item reports </a:t>
            </a:r>
          </a:p>
          <a:p>
            <a:r>
              <a:rPr lang="en-US" sz="2800" dirty="0">
                <a:solidFill>
                  <a:schemeClr val="bg1"/>
                </a:solidFill>
              </a:rPr>
              <a:t>Ensure visibility by using platforms people already use </a:t>
            </a:r>
          </a:p>
          <a:p>
            <a:r>
              <a:rPr lang="en-US" sz="2800" dirty="0">
                <a:solidFill>
                  <a:schemeClr val="bg1"/>
                </a:solidFill>
              </a:rPr>
              <a:t>Provide a structured, searchable system with verification to reduce fake claims</a:t>
            </a:r>
          </a:p>
        </p:txBody>
      </p:sp>
      <p:grpSp>
        <p:nvGrpSpPr>
          <p:cNvPr id="7" name="Group 7"/>
          <p:cNvGrpSpPr/>
          <p:nvPr/>
        </p:nvGrpSpPr>
        <p:grpSpPr>
          <a:xfrm>
            <a:off x="1221872" y="1656550"/>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txBody>
            <a:bodyPr/>
            <a:lstStyle/>
            <a:p>
              <a:endParaRPr lang="en-IN"/>
            </a:p>
          </p:txBody>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txBody>
          <a:bodyPr/>
          <a:lstStyle/>
          <a:p>
            <a:endParaRPr lang="en-IN"/>
          </a:p>
        </p:txBody>
      </p:sp>
      <p:sp>
        <p:nvSpPr>
          <p:cNvPr id="11" name="Freeform 11"/>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txBody>
          <a:bodyPr/>
          <a:lstStyle/>
          <a:p>
            <a:endParaRPr lang="en-IN" dirty="0"/>
          </a:p>
        </p:txBody>
      </p:sp>
      <p:sp>
        <p:nvSpPr>
          <p:cNvPr id="3" name="TextBox 3"/>
          <p:cNvSpPr txBox="1"/>
          <p:nvPr/>
        </p:nvSpPr>
        <p:spPr>
          <a:xfrm>
            <a:off x="6113000" y="525462"/>
            <a:ext cx="6320879"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PROPOSED  SOLUTION </a:t>
            </a:r>
          </a:p>
        </p:txBody>
      </p:sp>
      <p:sp>
        <p:nvSpPr>
          <p:cNvPr id="6" name="TextBox 6"/>
          <p:cNvSpPr txBox="1"/>
          <p:nvPr/>
        </p:nvSpPr>
        <p:spPr>
          <a:xfrm>
            <a:off x="854439" y="2618801"/>
            <a:ext cx="16669063" cy="7009098"/>
          </a:xfrm>
          <a:prstGeom prst="rect">
            <a:avLst/>
          </a:prstGeom>
        </p:spPr>
        <p:txBody>
          <a:bodyPr wrap="square" lIns="0" tIns="0" rIns="0" bIns="0" rtlCol="0" anchor="t">
            <a:spAutoFit/>
          </a:bodyPr>
          <a:lstStyle/>
          <a:p>
            <a:r>
              <a:rPr lang="en-US" sz="2800" b="1" dirty="0">
                <a:solidFill>
                  <a:schemeClr val="bg1"/>
                </a:solidFill>
              </a:rPr>
              <a:t>1. Explain your solution clearly:</a:t>
            </a:r>
            <a:br>
              <a:rPr lang="en-US" sz="2800" dirty="0">
                <a:solidFill>
                  <a:schemeClr val="bg1"/>
                </a:solidFill>
              </a:rPr>
            </a:br>
            <a:r>
              <a:rPr lang="en-US" sz="2800" dirty="0">
                <a:solidFill>
                  <a:schemeClr val="bg1"/>
                </a:solidFill>
              </a:rPr>
              <a:t>We propose a smart Lost &amp; Found system that integrates a WhatsApp bot with a centralized website. When a user sends a message like “I lost my watch” on WhatsApp, the bot automatically captures it and uploads it to the website. Users can also view or report items directly through the website or by using simple WhatsApp commands.</a:t>
            </a:r>
          </a:p>
          <a:p>
            <a:r>
              <a:rPr lang="en-US" sz="2800" b="1" dirty="0">
                <a:solidFill>
                  <a:schemeClr val="bg1"/>
                </a:solidFill>
              </a:rPr>
              <a:t>2. List key features:</a:t>
            </a:r>
            <a:endParaRPr lang="en-US" sz="2800" dirty="0">
              <a:solidFill>
                <a:schemeClr val="bg1"/>
              </a:solidFill>
            </a:endParaRPr>
          </a:p>
          <a:p>
            <a:r>
              <a:rPr lang="en-US" sz="2800" dirty="0">
                <a:solidFill>
                  <a:schemeClr val="bg1"/>
                </a:solidFill>
              </a:rPr>
              <a:t>WhatsApp bot for reporting and searching lost items </a:t>
            </a:r>
          </a:p>
          <a:p>
            <a:r>
              <a:rPr lang="en-US" sz="2800" dirty="0">
                <a:solidFill>
                  <a:schemeClr val="bg1"/>
                </a:solidFill>
              </a:rPr>
              <a:t>Centralized website with all lost &amp; found listings </a:t>
            </a:r>
          </a:p>
          <a:p>
            <a:r>
              <a:rPr lang="en-US" sz="2800" dirty="0">
                <a:solidFill>
                  <a:schemeClr val="bg1"/>
                </a:solidFill>
              </a:rPr>
              <a:t>Search and filter system for easy tracking </a:t>
            </a:r>
          </a:p>
          <a:p>
            <a:r>
              <a:rPr lang="en-US" sz="2800" dirty="0">
                <a:solidFill>
                  <a:schemeClr val="bg1"/>
                </a:solidFill>
              </a:rPr>
              <a:t>Command-based access (e.g., !lost all) </a:t>
            </a:r>
          </a:p>
          <a:p>
            <a:r>
              <a:rPr lang="en-US" sz="2800" dirty="0">
                <a:solidFill>
                  <a:schemeClr val="bg1"/>
                </a:solidFill>
              </a:rPr>
              <a:t>Verification system to prevent fake claims </a:t>
            </a:r>
          </a:p>
          <a:p>
            <a:r>
              <a:rPr lang="en-US" sz="2800" dirty="0">
                <a:solidFill>
                  <a:schemeClr val="bg1"/>
                </a:solidFill>
              </a:rPr>
              <a:t>Secure sharing of pickup location only after verification </a:t>
            </a:r>
          </a:p>
          <a:p>
            <a:r>
              <a:rPr lang="en-US" sz="2800" b="1" dirty="0">
                <a:solidFill>
                  <a:schemeClr val="bg1"/>
                </a:solidFill>
              </a:rPr>
              <a:t>3. Explain how it solves the problem:</a:t>
            </a:r>
            <a:br>
              <a:rPr lang="en-US" sz="2800" dirty="0">
                <a:solidFill>
                  <a:schemeClr val="bg1"/>
                </a:solidFill>
              </a:rPr>
            </a:br>
            <a:r>
              <a:rPr lang="en-US" sz="2800" dirty="0">
                <a:solidFill>
                  <a:schemeClr val="bg1"/>
                </a:solidFill>
              </a:rPr>
              <a:t>This solution bridges the gap between awareness and accessibility by using WhatsApp, a platform people already use daily, while maintaining a structured website. It ensures lost items are easily visible, organized, and verifiable, increasing the chances of recovery and reducing confusion caused by scattered communication.</a:t>
            </a:r>
          </a:p>
          <a:p>
            <a:pPr marL="734056" lvl="1" indent="-367028" algn="l">
              <a:lnSpc>
                <a:spcPts val="4759"/>
              </a:lnSpc>
              <a:spcBef>
                <a:spcPct val="0"/>
              </a:spcBef>
              <a:buFont typeface="Arial"/>
              <a:buChar char="•"/>
            </a:pPr>
            <a:endParaRPr lang="en-US" sz="2800" b="1" spc="-271" dirty="0">
              <a:solidFill>
                <a:schemeClr val="bg1"/>
              </a:solidFill>
              <a:latin typeface="Times New Roman Bold"/>
              <a:ea typeface="Times New Roman Bold"/>
              <a:cs typeface="Times New Roman Bold"/>
              <a:sym typeface="Times New Roman Bold"/>
            </a:endParaRPr>
          </a:p>
        </p:txBody>
      </p:sp>
      <p:grpSp>
        <p:nvGrpSpPr>
          <p:cNvPr id="7" name="Group 7"/>
          <p:cNvGrpSpPr/>
          <p:nvPr/>
        </p:nvGrpSpPr>
        <p:grpSpPr>
          <a:xfrm>
            <a:off x="1028700" y="1613071"/>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txBody>
            <a:bodyPr/>
            <a:lstStyle/>
            <a:p>
              <a:endParaRPr lang="en-IN"/>
            </a:p>
          </p:txBody>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txBody>
          <a:bodyPr/>
          <a:lstStyle/>
          <a:p>
            <a:endParaRPr lang="en-IN"/>
          </a:p>
        </p:txBody>
      </p:sp>
      <p:sp>
        <p:nvSpPr>
          <p:cNvPr id="11" name="Freeform 11"/>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txBody>
          <a:bodyPr/>
          <a:lstStyle/>
          <a:p>
            <a:endParaRPr lang="en-IN"/>
          </a:p>
        </p:txBody>
      </p:sp>
      <p:sp>
        <p:nvSpPr>
          <p:cNvPr id="3" name="TextBox 3"/>
          <p:cNvSpPr txBox="1"/>
          <p:nvPr/>
        </p:nvSpPr>
        <p:spPr>
          <a:xfrm>
            <a:off x="5742232" y="396022"/>
            <a:ext cx="7099399"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 SYSTEM ARCHITECTURE</a:t>
            </a:r>
          </a:p>
        </p:txBody>
      </p:sp>
      <p:sp>
        <p:nvSpPr>
          <p:cNvPr id="5" name="TextBox 5"/>
          <p:cNvSpPr txBox="1"/>
          <p:nvPr/>
        </p:nvSpPr>
        <p:spPr>
          <a:xfrm>
            <a:off x="1046972" y="2401463"/>
            <a:ext cx="17031240" cy="7870873"/>
          </a:xfrm>
          <a:prstGeom prst="rect">
            <a:avLst/>
          </a:prstGeom>
        </p:spPr>
        <p:txBody>
          <a:bodyPr wrap="square" lIns="0" tIns="0" rIns="0" bIns="0" rtlCol="0" anchor="t">
            <a:spAutoFit/>
          </a:bodyPr>
          <a:lstStyle/>
          <a:p>
            <a:r>
              <a:rPr lang="en-US" sz="2800" b="1" dirty="0">
                <a:solidFill>
                  <a:schemeClr val="bg1"/>
                </a:solidFill>
              </a:rPr>
              <a:t>1. Main Components:</a:t>
            </a:r>
            <a:endParaRPr lang="en-US" sz="2800" dirty="0">
              <a:solidFill>
                <a:schemeClr val="bg1"/>
              </a:solidFill>
            </a:endParaRPr>
          </a:p>
          <a:p>
            <a:r>
              <a:rPr lang="en-US" sz="2800" b="1" dirty="0">
                <a:solidFill>
                  <a:schemeClr val="bg1"/>
                </a:solidFill>
              </a:rPr>
              <a:t>Frontend:</a:t>
            </a:r>
            <a:r>
              <a:rPr lang="en-US" sz="2800" dirty="0">
                <a:solidFill>
                  <a:schemeClr val="bg1"/>
                </a:solidFill>
              </a:rPr>
              <a:t> React (MERN stack) for building a responsive web interface </a:t>
            </a:r>
          </a:p>
          <a:p>
            <a:r>
              <a:rPr lang="en-US" sz="2800" b="1" dirty="0">
                <a:solidFill>
                  <a:schemeClr val="bg1"/>
                </a:solidFill>
              </a:rPr>
              <a:t>Backend:</a:t>
            </a:r>
            <a:r>
              <a:rPr lang="en-US" sz="2800" dirty="0">
                <a:solidFill>
                  <a:schemeClr val="bg1"/>
                </a:solidFill>
              </a:rPr>
              <a:t> Node.js + Express.js to handle APIs, WhatsApp bot logic, and server operations </a:t>
            </a:r>
          </a:p>
          <a:p>
            <a:r>
              <a:rPr lang="en-US" sz="2800" b="1" dirty="0">
                <a:solidFill>
                  <a:schemeClr val="bg1"/>
                </a:solidFill>
              </a:rPr>
              <a:t>Database:</a:t>
            </a:r>
            <a:r>
              <a:rPr lang="en-US" sz="2800" dirty="0">
                <a:solidFill>
                  <a:schemeClr val="bg1"/>
                </a:solidFill>
              </a:rPr>
              <a:t> MongoDB to store lost/found items, user data, and claims </a:t>
            </a:r>
          </a:p>
          <a:p>
            <a:r>
              <a:rPr lang="en-US" sz="2800" b="1" dirty="0">
                <a:solidFill>
                  <a:schemeClr val="bg1"/>
                </a:solidFill>
              </a:rPr>
              <a:t>APIs &amp; Services:</a:t>
            </a:r>
            <a:r>
              <a:rPr lang="en-US" sz="2800" dirty="0">
                <a:solidFill>
                  <a:schemeClr val="bg1"/>
                </a:solidFill>
              </a:rPr>
              <a:t> </a:t>
            </a:r>
          </a:p>
          <a:p>
            <a:pPr lvl="1"/>
            <a:r>
              <a:rPr lang="en-US" sz="2800" dirty="0">
                <a:solidFill>
                  <a:schemeClr val="bg1"/>
                </a:solidFill>
              </a:rPr>
              <a:t>WhatsApp API (via whatsapp-web.js or similar) for message handling </a:t>
            </a:r>
          </a:p>
          <a:p>
            <a:pPr lvl="1"/>
            <a:r>
              <a:rPr lang="en-US" sz="2800" dirty="0" err="1">
                <a:solidFill>
                  <a:schemeClr val="bg1"/>
                </a:solidFill>
              </a:rPr>
              <a:t>Cloudinary</a:t>
            </a:r>
            <a:r>
              <a:rPr lang="en-US" sz="2800" dirty="0">
                <a:solidFill>
                  <a:schemeClr val="bg1"/>
                </a:solidFill>
              </a:rPr>
              <a:t> for image upload and storage </a:t>
            </a:r>
          </a:p>
          <a:p>
            <a:br>
              <a:rPr lang="en-US" sz="2800" dirty="0">
                <a:solidFill>
                  <a:schemeClr val="bg1"/>
                </a:solidFill>
              </a:rPr>
            </a:br>
            <a:endParaRPr lang="en-US" sz="2800" dirty="0">
              <a:solidFill>
                <a:schemeClr val="bg1"/>
              </a:solidFill>
            </a:endParaRPr>
          </a:p>
          <a:p>
            <a:r>
              <a:rPr lang="en-US" sz="2800" b="1" dirty="0">
                <a:solidFill>
                  <a:schemeClr val="bg1"/>
                </a:solidFill>
              </a:rPr>
              <a:t>2. Data Flow (Brief):</a:t>
            </a:r>
            <a:endParaRPr lang="en-US" sz="2800" dirty="0">
              <a:solidFill>
                <a:schemeClr val="bg1"/>
              </a:solidFill>
            </a:endParaRPr>
          </a:p>
          <a:p>
            <a:r>
              <a:rPr lang="en-US" sz="2800" dirty="0">
                <a:solidFill>
                  <a:schemeClr val="bg1"/>
                </a:solidFill>
              </a:rPr>
              <a:t>User sends a message on WhatsApp (e.g., “I lost my watch”) </a:t>
            </a:r>
          </a:p>
          <a:p>
            <a:r>
              <a:rPr lang="en-US" sz="2800" dirty="0">
                <a:solidFill>
                  <a:schemeClr val="bg1"/>
                </a:solidFill>
              </a:rPr>
              <a:t>WhatsApp bot captures the message and sends data to the backend </a:t>
            </a:r>
          </a:p>
          <a:p>
            <a:r>
              <a:rPr lang="en-US" sz="2800" dirty="0">
                <a:solidFill>
                  <a:schemeClr val="bg1"/>
                </a:solidFill>
              </a:rPr>
              <a:t>Backend processes the request and stores item details in MongoDB </a:t>
            </a:r>
          </a:p>
          <a:p>
            <a:r>
              <a:rPr lang="en-US" sz="2800" dirty="0">
                <a:solidFill>
                  <a:schemeClr val="bg1"/>
                </a:solidFill>
              </a:rPr>
              <a:t>If an image is included, it is uploaded to </a:t>
            </a:r>
            <a:r>
              <a:rPr lang="en-US" sz="2800" dirty="0" err="1">
                <a:solidFill>
                  <a:schemeClr val="bg1"/>
                </a:solidFill>
              </a:rPr>
              <a:t>Cloudinary</a:t>
            </a:r>
            <a:r>
              <a:rPr lang="en-US" sz="2800" dirty="0">
                <a:solidFill>
                  <a:schemeClr val="bg1"/>
                </a:solidFill>
              </a:rPr>
              <a:t> and the link is saved </a:t>
            </a:r>
          </a:p>
          <a:p>
            <a:r>
              <a:rPr lang="en-US" sz="2800" dirty="0">
                <a:solidFill>
                  <a:schemeClr val="bg1"/>
                </a:solidFill>
              </a:rPr>
              <a:t>The website fetches data from the backend and displays all lost/found items </a:t>
            </a:r>
          </a:p>
          <a:p>
            <a:r>
              <a:rPr lang="en-US" sz="2800" dirty="0">
                <a:solidFill>
                  <a:schemeClr val="bg1"/>
                </a:solidFill>
              </a:rPr>
              <a:t>Another user can search or claim an item via website or WhatsApp </a:t>
            </a:r>
          </a:p>
          <a:p>
            <a:r>
              <a:rPr lang="en-US" sz="2800" dirty="0">
                <a:solidFill>
                  <a:schemeClr val="bg1"/>
                </a:solidFill>
              </a:rPr>
              <a:t>Backend verifies claim details before sharing pickup information</a:t>
            </a:r>
          </a:p>
          <a:p>
            <a:pPr marL="734056" lvl="1" indent="-367028" algn="l">
              <a:lnSpc>
                <a:spcPts val="4759"/>
              </a:lnSpc>
              <a:spcBef>
                <a:spcPct val="0"/>
              </a:spcBef>
              <a:buFont typeface="Arial"/>
              <a:buChar char="•"/>
            </a:pPr>
            <a:endParaRPr lang="en-US" sz="2800" b="1" spc="-271" dirty="0">
              <a:solidFill>
                <a:schemeClr val="bg1"/>
              </a:solidFill>
              <a:latin typeface="Times New Roman Bold"/>
              <a:ea typeface="Times New Roman Bold"/>
              <a:cs typeface="Times New Roman Bold"/>
              <a:sym typeface="Times New Roman Bold"/>
            </a:endParaRPr>
          </a:p>
        </p:txBody>
      </p:sp>
      <p:grpSp>
        <p:nvGrpSpPr>
          <p:cNvPr id="7" name="Group 7"/>
          <p:cNvGrpSpPr/>
          <p:nvPr/>
        </p:nvGrpSpPr>
        <p:grpSpPr>
          <a:xfrm>
            <a:off x="1176631" y="1549207"/>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txBody>
            <a:bodyPr/>
            <a:lstStyle/>
            <a:p>
              <a:endParaRPr lang="en-IN"/>
            </a:p>
          </p:txBody>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txBody>
          <a:bodyPr/>
          <a:lstStyle/>
          <a:p>
            <a:endParaRPr lang="en-IN"/>
          </a:p>
        </p:txBody>
      </p:sp>
      <p:sp>
        <p:nvSpPr>
          <p:cNvPr id="11" name="Freeform 11"/>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txBody>
          <a:bodyPr/>
          <a:lstStyle/>
          <a:p>
            <a:endParaRPr lang="en-IN" dirty="0"/>
          </a:p>
        </p:txBody>
      </p:sp>
      <p:sp>
        <p:nvSpPr>
          <p:cNvPr id="3" name="TextBox 3"/>
          <p:cNvSpPr txBox="1"/>
          <p:nvPr/>
        </p:nvSpPr>
        <p:spPr>
          <a:xfrm>
            <a:off x="7294513" y="377531"/>
            <a:ext cx="3698974"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TECH  STACK</a:t>
            </a:r>
          </a:p>
        </p:txBody>
      </p:sp>
      <p:grpSp>
        <p:nvGrpSpPr>
          <p:cNvPr id="8" name="Group 8"/>
          <p:cNvGrpSpPr/>
          <p:nvPr/>
        </p:nvGrpSpPr>
        <p:grpSpPr>
          <a:xfrm>
            <a:off x="1028700" y="1406083"/>
            <a:ext cx="16230600" cy="149974"/>
            <a:chOff x="0" y="0"/>
            <a:chExt cx="4052983" cy="37450"/>
          </a:xfrm>
        </p:grpSpPr>
        <p:sp>
          <p:nvSpPr>
            <p:cNvPr id="9" name="Freeform 9"/>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txBody>
            <a:bodyPr/>
            <a:lstStyle/>
            <a:p>
              <a:endParaRPr lang="en-IN"/>
            </a:p>
          </p:txBody>
        </p:sp>
        <p:sp>
          <p:nvSpPr>
            <p:cNvPr id="10" name="TextBox 10"/>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txBody>
          <a:bodyPr/>
          <a:lstStyle/>
          <a:p>
            <a:endParaRPr lang="en-IN"/>
          </a:p>
        </p:txBody>
      </p:sp>
      <p:sp>
        <p:nvSpPr>
          <p:cNvPr id="12" name="Freeform 12"/>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txBody>
          <a:bodyPr/>
          <a:lstStyle/>
          <a:p>
            <a:endParaRPr lang="en-IN"/>
          </a:p>
        </p:txBody>
      </p:sp>
      <p:sp>
        <p:nvSpPr>
          <p:cNvPr id="16" name="Rectangle 4">
            <a:extLst>
              <a:ext uri="{FF2B5EF4-FFF2-40B4-BE49-F238E27FC236}">
                <a16:creationId xmlns:a16="http://schemas.microsoft.com/office/drawing/2014/main" id="{D858D5DB-A2EE-0731-3D9E-C3BE173BE639}"/>
              </a:ext>
            </a:extLst>
          </p:cNvPr>
          <p:cNvSpPr>
            <a:spLocks noChangeArrowheads="1"/>
          </p:cNvSpPr>
          <p:nvPr/>
        </p:nvSpPr>
        <p:spPr bwMode="auto">
          <a:xfrm>
            <a:off x="374754" y="3015274"/>
            <a:ext cx="16712332" cy="6494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bg1"/>
                </a:solidFill>
                <a:effectLst/>
                <a:latin typeface="Arial" panose="020B0604020202020204" pitchFamily="34" charset="0"/>
              </a:rPr>
              <a:t>• Frontend technologies:</a:t>
            </a:r>
            <a:endParaRPr kumimoji="0" lang="en-US" altLang="en-US" sz="3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solidFill>
                <a:effectLst/>
                <a:latin typeface="Arial" panose="020B0604020202020204" pitchFamily="34" charset="0"/>
              </a:rPr>
              <a:t>React.js (MERN stack) for building a fast, responsive, and user-friendly interface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bg1"/>
                </a:solidFill>
                <a:effectLst/>
                <a:latin typeface="Arial" panose="020B0604020202020204" pitchFamily="34" charset="0"/>
              </a:rPr>
              <a:t>• Backend technologies:</a:t>
            </a:r>
            <a:endParaRPr kumimoji="0" lang="en-US" altLang="en-US" sz="3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solidFill>
                <a:effectLst/>
                <a:latin typeface="Arial" panose="020B0604020202020204" pitchFamily="34" charset="0"/>
              </a:rPr>
              <a:t>Node.js + Express.js for handling APIs, WhatsApp bot logic, and server-side operations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bg1"/>
                </a:solidFill>
                <a:effectLst/>
                <a:latin typeface="Arial" panose="020B0604020202020204" pitchFamily="34" charset="0"/>
              </a:rPr>
              <a:t>• Database:</a:t>
            </a:r>
            <a:endParaRPr kumimoji="0" lang="en-US" altLang="en-US" sz="3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solidFill>
                <a:effectLst/>
                <a:latin typeface="Arial" panose="020B0604020202020204" pitchFamily="34" charset="0"/>
              </a:rPr>
              <a:t>MongoDB for flexible, scalable storage of lost/found items, users, and claims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bg1"/>
                </a:solidFill>
                <a:effectLst/>
                <a:latin typeface="Arial" panose="020B0604020202020204" pitchFamily="34" charset="0"/>
              </a:rPr>
              <a:t>• Tools and APIs used (with reason):</a:t>
            </a:r>
            <a:endParaRPr kumimoji="0" lang="en-US" altLang="en-US" sz="3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solidFill>
                <a:effectLst/>
                <a:latin typeface="Arial" panose="020B0604020202020204" pitchFamily="34" charset="0"/>
              </a:rPr>
              <a:t>WhatsApp API (</a:t>
            </a:r>
            <a:r>
              <a:rPr kumimoji="0" lang="en-US" altLang="en-US" sz="3200" b="0" i="0" u="none" strike="noStrike" cap="none" normalizeH="0" baseline="0" dirty="0">
                <a:ln>
                  <a:noFill/>
                </a:ln>
                <a:solidFill>
                  <a:schemeClr val="bg1"/>
                </a:solidFill>
                <a:effectLst/>
                <a:latin typeface="Arial Unicode MS"/>
              </a:rPr>
              <a:t>whatsapp-web.js</a:t>
            </a:r>
            <a:r>
              <a:rPr kumimoji="0" lang="en-US" altLang="en-US" sz="3200" b="0" i="0" u="none" strike="noStrike" cap="none" normalizeH="0" baseline="0" dirty="0">
                <a:ln>
                  <a:noFill/>
                </a:ln>
                <a:solidFill>
                  <a:schemeClr val="bg1"/>
                </a:solidFill>
                <a:effectLst/>
              </a:rPr>
              <a:t>) – to capture real-time user messages directly from WhatsApp</a:t>
            </a:r>
            <a:endParaRPr kumimoji="0" lang="en-US" altLang="en-US" sz="3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err="1">
                <a:ln>
                  <a:noFill/>
                </a:ln>
                <a:solidFill>
                  <a:schemeClr val="bg1"/>
                </a:solidFill>
                <a:effectLst/>
                <a:latin typeface="Arial" panose="020B0604020202020204" pitchFamily="34" charset="0"/>
              </a:rPr>
              <a:t>Cloudinary</a:t>
            </a:r>
            <a:r>
              <a:rPr kumimoji="0" lang="en-US" altLang="en-US" sz="3200" b="0" i="0" u="none" strike="noStrike" cap="none" normalizeH="0" baseline="0" dirty="0">
                <a:ln>
                  <a:noFill/>
                </a:ln>
                <a:solidFill>
                  <a:schemeClr val="bg1"/>
                </a:solidFill>
                <a:effectLst/>
                <a:latin typeface="Arial" panose="020B0604020202020204" pitchFamily="34" charset="0"/>
              </a:rPr>
              <a:t> – to efficiently store and manage images of lost/found items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solidFill>
                <a:effectLst/>
                <a:latin typeface="Arial" panose="020B0604020202020204" pitchFamily="34" charset="0"/>
              </a:rPr>
              <a:t>Firebase / JWT Auth – for secure user authentication and claim verification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solidFill>
                <a:effectLst/>
                <a:latin typeface="Arial" panose="020B0604020202020204" pitchFamily="34" charset="0"/>
              </a:rPr>
              <a:t>REST APIs – to enable smooth communication between frontend and backend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solidFill>
                <a:effectLst/>
                <a:latin typeface="Arial" panose="020B0604020202020204" pitchFamily="34" charset="0"/>
              </a:rPr>
              <a:t>Git &amp; GitHub – for version control and collaborative development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bg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txBody>
          <a:bodyPr/>
          <a:lstStyle/>
          <a:p>
            <a:endParaRPr lang="en-IN"/>
          </a:p>
        </p:txBody>
      </p:sp>
      <p:sp>
        <p:nvSpPr>
          <p:cNvPr id="3" name="TextBox 3"/>
          <p:cNvSpPr txBox="1"/>
          <p:nvPr/>
        </p:nvSpPr>
        <p:spPr>
          <a:xfrm>
            <a:off x="3954672" y="396022"/>
            <a:ext cx="10896416" cy="882651"/>
          </a:xfrm>
          <a:prstGeom prst="rect">
            <a:avLst/>
          </a:prstGeom>
        </p:spPr>
        <p:txBody>
          <a:bodyPr lIns="0" tIns="0" rIns="0" bIns="0" rtlCol="0" anchor="t">
            <a:spAutoFit/>
          </a:bodyPr>
          <a:lstStyle/>
          <a:p>
            <a:pPr algn="ctr">
              <a:lnSpc>
                <a:spcPts val="6999"/>
              </a:lnSpc>
              <a:spcBef>
                <a:spcPct val="0"/>
              </a:spcBef>
            </a:pPr>
            <a:r>
              <a:rPr lang="en-US" sz="4999" b="1" spc="-399">
                <a:solidFill>
                  <a:srgbClr val="FFFFFF"/>
                </a:solidFill>
                <a:latin typeface="Times New Roman Bold"/>
                <a:ea typeface="Times New Roman Bold"/>
                <a:cs typeface="Times New Roman Bold"/>
                <a:sym typeface="Times New Roman Bold"/>
              </a:rPr>
              <a:t>FLOWCHART  /  WORKING PROCESS </a:t>
            </a:r>
          </a:p>
        </p:txBody>
      </p:sp>
      <p:grpSp>
        <p:nvGrpSpPr>
          <p:cNvPr id="7" name="Group 7"/>
          <p:cNvGrpSpPr/>
          <p:nvPr/>
        </p:nvGrpSpPr>
        <p:grpSpPr>
          <a:xfrm>
            <a:off x="1287580" y="1549207"/>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txBody>
            <a:bodyPr/>
            <a:lstStyle/>
            <a:p>
              <a:endParaRPr lang="en-IN"/>
            </a:p>
          </p:txBody>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txBody>
          <a:bodyPr/>
          <a:lstStyle/>
          <a:p>
            <a:endParaRPr lang="en-IN"/>
          </a:p>
        </p:txBody>
      </p:sp>
      <p:sp>
        <p:nvSpPr>
          <p:cNvPr id="11" name="Freeform 11"/>
          <p:cNvSpPr/>
          <p:nvPr/>
        </p:nvSpPr>
        <p:spPr>
          <a:xfrm>
            <a:off x="16007241"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txBody>
          <a:bodyPr/>
          <a:lstStyle/>
          <a:p>
            <a:endParaRPr lang="en-IN"/>
          </a:p>
        </p:txBody>
      </p:sp>
      <p:sp>
        <p:nvSpPr>
          <p:cNvPr id="12" name="Rectangle 1">
            <a:extLst>
              <a:ext uri="{FF2B5EF4-FFF2-40B4-BE49-F238E27FC236}">
                <a16:creationId xmlns:a16="http://schemas.microsoft.com/office/drawing/2014/main" id="{766E81C4-DBE6-B506-5100-392EEA96B969}"/>
              </a:ext>
            </a:extLst>
          </p:cNvPr>
          <p:cNvSpPr>
            <a:spLocks noChangeArrowheads="1"/>
          </p:cNvSpPr>
          <p:nvPr/>
        </p:nvSpPr>
        <p:spPr bwMode="auto">
          <a:xfrm>
            <a:off x="1416917" y="2354944"/>
            <a:ext cx="7594819" cy="7109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bg1"/>
                </a:solidFill>
                <a:effectLst/>
                <a:latin typeface="Arial" panose="020B0604020202020204" pitchFamily="34" charset="0"/>
              </a:rPr>
              <a:t>• Step-by-step development plan:</a:t>
            </a:r>
            <a:endParaRPr kumimoji="0" lang="en-US" altLang="en-US" sz="24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400" b="0" i="0" u="none" strike="noStrike" cap="none" normalizeH="0" baseline="0" dirty="0">
                <a:ln>
                  <a:noFill/>
                </a:ln>
                <a:solidFill>
                  <a:schemeClr val="bg1"/>
                </a:solidFill>
                <a:effectLst/>
                <a:latin typeface="Arial" panose="020B0604020202020204" pitchFamily="34" charset="0"/>
              </a:rPr>
              <a:t>Set up MERN stack project (React frontend + Node/Express backend + MongoDB)</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0" i="0" u="none" strike="noStrike" cap="none" normalizeH="0" baseline="0" dirty="0">
                <a:ln>
                  <a:noFill/>
                </a:ln>
                <a:solidFill>
                  <a:schemeClr val="bg1"/>
                </a:solidFill>
                <a:effectLst/>
                <a:latin typeface="Arial" panose="020B0604020202020204" pitchFamily="34" charset="0"/>
              </a:rPr>
              <a:t>Design database schema for lost/found items and users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0" i="0" u="none" strike="noStrike" cap="none" normalizeH="0" baseline="0" dirty="0">
                <a:ln>
                  <a:noFill/>
                </a:ln>
                <a:solidFill>
                  <a:schemeClr val="bg1"/>
                </a:solidFill>
                <a:effectLst/>
                <a:latin typeface="Arial" panose="020B0604020202020204" pitchFamily="34" charset="0"/>
              </a:rPr>
              <a:t>Build basic frontend UI (post item, view items, search/filter)</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400" b="0" i="0" u="none" strike="noStrike" cap="none" normalizeH="0" baseline="0" dirty="0">
                <a:ln>
                  <a:noFill/>
                </a:ln>
                <a:solidFill>
                  <a:schemeClr val="bg1"/>
                </a:solidFill>
                <a:effectLst/>
                <a:latin typeface="Arial" panose="020B0604020202020204" pitchFamily="34" charset="0"/>
              </a:rPr>
              <a:t>Develop backend APIs for adding, fetching, and claiming items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400" b="0" i="0" u="none" strike="noStrike" cap="none" normalizeH="0" baseline="0" dirty="0">
                <a:ln>
                  <a:noFill/>
                </a:ln>
                <a:solidFill>
                  <a:schemeClr val="bg1"/>
                </a:solidFill>
                <a:effectLst/>
                <a:latin typeface="Arial" panose="020B0604020202020204" pitchFamily="34" charset="0"/>
              </a:rPr>
              <a:t>Integrate </a:t>
            </a:r>
            <a:r>
              <a:rPr kumimoji="0" lang="en-US" altLang="en-US" sz="2400" b="0" i="0" u="none" strike="noStrike" cap="none" normalizeH="0" baseline="0" dirty="0" err="1">
                <a:ln>
                  <a:noFill/>
                </a:ln>
                <a:solidFill>
                  <a:schemeClr val="bg1"/>
                </a:solidFill>
                <a:effectLst/>
                <a:latin typeface="Arial" panose="020B0604020202020204" pitchFamily="34" charset="0"/>
              </a:rPr>
              <a:t>Cloudinary</a:t>
            </a:r>
            <a:r>
              <a:rPr kumimoji="0" lang="en-US" altLang="en-US" sz="2400" b="0" i="0" u="none" strike="noStrike" cap="none" normalizeH="0" baseline="0" dirty="0">
                <a:ln>
                  <a:noFill/>
                </a:ln>
                <a:solidFill>
                  <a:schemeClr val="bg1"/>
                </a:solidFill>
                <a:effectLst/>
                <a:latin typeface="Arial" panose="020B0604020202020204" pitchFamily="34" charset="0"/>
              </a:rPr>
              <a:t> for image uploads</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2400" b="0" i="0" u="none" strike="noStrike" cap="none" normalizeH="0" baseline="0" dirty="0">
                <a:ln>
                  <a:noFill/>
                </a:ln>
                <a:solidFill>
                  <a:schemeClr val="bg1"/>
                </a:solidFill>
                <a:effectLst/>
                <a:latin typeface="Arial" panose="020B0604020202020204" pitchFamily="34" charset="0"/>
              </a:rPr>
              <a:t>Implement WhatsApp bot to capture and send messages to backend</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2400" b="0" i="0" u="none" strike="noStrike" cap="none" normalizeH="0" baseline="0" dirty="0">
                <a:ln>
                  <a:noFill/>
                </a:ln>
                <a:solidFill>
                  <a:schemeClr val="bg1"/>
                </a:solidFill>
                <a:effectLst/>
                <a:latin typeface="Arial" panose="020B0604020202020204" pitchFamily="34" charset="0"/>
              </a:rPr>
              <a:t>Connect WhatsApp bot with database and website</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en-US" altLang="en-US" sz="2400" b="0" i="0" u="none" strike="noStrike" cap="none" normalizeH="0" baseline="0" dirty="0">
                <a:ln>
                  <a:noFill/>
                </a:ln>
                <a:solidFill>
                  <a:schemeClr val="bg1"/>
                </a:solidFill>
                <a:effectLst/>
                <a:latin typeface="Arial" panose="020B0604020202020204" pitchFamily="34" charset="0"/>
              </a:rPr>
              <a:t>Add authentication and claim verification system</a:t>
            </a: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en-US" altLang="en-US" sz="2400" b="0" i="0" u="none" strike="noStrike" cap="none" normalizeH="0" baseline="0" dirty="0">
                <a:ln>
                  <a:noFill/>
                </a:ln>
                <a:solidFill>
                  <a:schemeClr val="bg1"/>
                </a:solidFill>
                <a:effectLst/>
                <a:latin typeface="Arial" panose="020B0604020202020204" pitchFamily="34" charset="0"/>
              </a:rPr>
              <a:t>Test complete flow (WhatsApp ↔ Backend ↔ Website)</a:t>
            </a: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en-US" altLang="en-US" sz="2400" b="0" i="0" u="none" strike="noStrike" cap="none" normalizeH="0" baseline="0" dirty="0">
                <a:ln>
                  <a:noFill/>
                </a:ln>
                <a:solidFill>
                  <a:schemeClr val="bg1"/>
                </a:solidFill>
                <a:effectLst/>
                <a:latin typeface="Arial" panose="020B0604020202020204" pitchFamily="34" charset="0"/>
              </a:rPr>
              <a:t>Deploy application (frontend + backend + database)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sp>
        <p:nvSpPr>
          <p:cNvPr id="13" name="Rectangle 2">
            <a:extLst>
              <a:ext uri="{FF2B5EF4-FFF2-40B4-BE49-F238E27FC236}">
                <a16:creationId xmlns:a16="http://schemas.microsoft.com/office/drawing/2014/main" id="{A4C5C4E6-289E-5E0E-674F-E00B2D490330}"/>
              </a:ext>
            </a:extLst>
          </p:cNvPr>
          <p:cNvSpPr>
            <a:spLocks noChangeArrowheads="1"/>
          </p:cNvSpPr>
          <p:nvPr/>
        </p:nvSpPr>
        <p:spPr bwMode="auto">
          <a:xfrm>
            <a:off x="0" y="457200"/>
            <a:ext cx="18288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Rectangle 3">
            <a:extLst>
              <a:ext uri="{FF2B5EF4-FFF2-40B4-BE49-F238E27FC236}">
                <a16:creationId xmlns:a16="http://schemas.microsoft.com/office/drawing/2014/main" id="{DE9CF901-1120-3D97-B57C-D331A2B2351A}"/>
              </a:ext>
            </a:extLst>
          </p:cNvPr>
          <p:cNvSpPr>
            <a:spLocks noChangeArrowheads="1"/>
          </p:cNvSpPr>
          <p:nvPr/>
        </p:nvSpPr>
        <p:spPr bwMode="auto">
          <a:xfrm>
            <a:off x="10219766" y="3310425"/>
            <a:ext cx="806823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bg1"/>
                </a:solidFill>
                <a:effectLst/>
                <a:latin typeface="Arial" panose="020B0604020202020204" pitchFamily="34" charset="0"/>
              </a:rPr>
              <a:t>• Modules / features to be built:</a:t>
            </a:r>
            <a:endParaRPr kumimoji="0" lang="en-US" altLang="en-US" sz="24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Lost item reporting (via WhatsApp + website)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Found item reporting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Item listing dashboard (website)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Search and filter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WhatsApp command system (e.g., </a:t>
            </a:r>
            <a:r>
              <a:rPr kumimoji="0" lang="en-US" altLang="en-US" sz="2400" b="0" i="0" u="none" strike="noStrike" cap="none" normalizeH="0" baseline="0" dirty="0">
                <a:ln>
                  <a:noFill/>
                </a:ln>
                <a:solidFill>
                  <a:schemeClr val="bg1"/>
                </a:solidFill>
                <a:effectLst/>
                <a:latin typeface="Arial Unicode MS"/>
              </a:rPr>
              <a:t>!lost all</a:t>
            </a:r>
            <a:r>
              <a:rPr kumimoji="0" lang="en-US" altLang="en-US" sz="2400" b="0" i="0" u="none" strike="noStrike" cap="none" normalizeH="0" baseline="0" dirty="0">
                <a:ln>
                  <a:noFill/>
                </a:ln>
                <a:solidFill>
                  <a:schemeClr val="bg1"/>
                </a:solidFill>
                <a:effectLst/>
              </a:rPr>
              <a:t>)</a:t>
            </a:r>
            <a:endParaRPr kumimoji="0" lang="en-US" altLang="en-US" sz="24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Image upload (</a:t>
            </a:r>
            <a:r>
              <a:rPr kumimoji="0" lang="en-US" altLang="en-US" sz="2400" b="0" i="0" u="none" strike="noStrike" cap="none" normalizeH="0" baseline="0" dirty="0" err="1">
                <a:ln>
                  <a:noFill/>
                </a:ln>
                <a:solidFill>
                  <a:schemeClr val="bg1"/>
                </a:solidFill>
                <a:effectLst/>
                <a:latin typeface="Arial" panose="020B0604020202020204" pitchFamily="34" charset="0"/>
              </a:rPr>
              <a:t>Cloudinary</a:t>
            </a:r>
            <a:r>
              <a:rPr kumimoji="0" lang="en-US" altLang="en-US" sz="2400" b="0" i="0" u="none" strike="noStrike" cap="none" normalizeH="0" baseline="0" dirty="0">
                <a:ln>
                  <a:noFill/>
                </a:ln>
                <a:solidFill>
                  <a:schemeClr val="bg1"/>
                </a:solidFill>
                <a:effectLst/>
                <a:latin typeface="Arial" panose="020B0604020202020204" pitchFamily="34" charset="0"/>
              </a:rPr>
              <a:t> integration)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Claim verification module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Secure pickup information sharing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User authentication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Admin/monitoring panel (optional for managing reports)**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13" b="-9313"/>
            </a:stretch>
          </a:blipFill>
        </p:spPr>
        <p:txBody>
          <a:bodyPr/>
          <a:lstStyle/>
          <a:p>
            <a:endParaRPr lang="en-IN"/>
          </a:p>
        </p:txBody>
      </p:sp>
      <p:sp>
        <p:nvSpPr>
          <p:cNvPr id="3" name="TextBox 3"/>
          <p:cNvSpPr txBox="1"/>
          <p:nvPr/>
        </p:nvSpPr>
        <p:spPr>
          <a:xfrm>
            <a:off x="4896553" y="377591"/>
            <a:ext cx="8827740" cy="892175"/>
          </a:xfrm>
          <a:prstGeom prst="rect">
            <a:avLst/>
          </a:prstGeom>
        </p:spPr>
        <p:txBody>
          <a:bodyPr lIns="0" tIns="0" rIns="0" bIns="0" rtlCol="0" anchor="t">
            <a:spAutoFit/>
          </a:bodyPr>
          <a:lstStyle/>
          <a:p>
            <a:pPr algn="ctr">
              <a:lnSpc>
                <a:spcPts val="7000"/>
              </a:lnSpc>
              <a:spcBef>
                <a:spcPct val="0"/>
              </a:spcBef>
            </a:pPr>
            <a:r>
              <a:rPr lang="en-US" sz="5000" b="1" spc="-400">
                <a:solidFill>
                  <a:srgbClr val="FFFFFF"/>
                </a:solidFill>
                <a:latin typeface="Times New Roman Bold"/>
                <a:ea typeface="Times New Roman Bold"/>
                <a:cs typeface="Times New Roman Bold"/>
                <a:sym typeface="Times New Roman Bold"/>
              </a:rPr>
              <a:t>EXPECTED OUTCOME  / IMPACT</a:t>
            </a:r>
          </a:p>
        </p:txBody>
      </p:sp>
      <p:grpSp>
        <p:nvGrpSpPr>
          <p:cNvPr id="7" name="Group 7"/>
          <p:cNvGrpSpPr/>
          <p:nvPr/>
        </p:nvGrpSpPr>
        <p:grpSpPr>
          <a:xfrm>
            <a:off x="1565415" y="1441864"/>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txBody>
            <a:bodyPr/>
            <a:lstStyle/>
            <a:p>
              <a:endParaRPr lang="en-IN"/>
            </a:p>
          </p:txBody>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3"/>
            <a:stretch>
              <a:fillRect/>
            </a:stretch>
          </a:blipFill>
        </p:spPr>
        <p:txBody>
          <a:bodyPr/>
          <a:lstStyle/>
          <a:p>
            <a:endParaRPr lang="en-IN"/>
          </a:p>
        </p:txBody>
      </p:sp>
      <p:sp>
        <p:nvSpPr>
          <p:cNvPr id="11" name="Freeform 11"/>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4"/>
            <a:stretch>
              <a:fillRect/>
            </a:stretch>
          </a:blipFill>
        </p:spPr>
        <p:txBody>
          <a:bodyPr/>
          <a:lstStyle/>
          <a:p>
            <a:endParaRPr lang="en-IN"/>
          </a:p>
        </p:txBody>
      </p:sp>
      <p:sp>
        <p:nvSpPr>
          <p:cNvPr id="12" name="Rectangle 1">
            <a:extLst>
              <a:ext uri="{FF2B5EF4-FFF2-40B4-BE49-F238E27FC236}">
                <a16:creationId xmlns:a16="http://schemas.microsoft.com/office/drawing/2014/main" id="{14FC52B8-AD94-59B7-4493-1934D9C6844C}"/>
              </a:ext>
            </a:extLst>
          </p:cNvPr>
          <p:cNvSpPr>
            <a:spLocks noChangeArrowheads="1"/>
          </p:cNvSpPr>
          <p:nvPr/>
        </p:nvSpPr>
        <p:spPr bwMode="auto">
          <a:xfrm>
            <a:off x="1089439" y="6042971"/>
            <a:ext cx="1406167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bg1"/>
                </a:solidFill>
                <a:effectLst/>
                <a:latin typeface="Arial" panose="020B0604020202020204" pitchFamily="34" charset="0"/>
              </a:rPr>
              <a:t>• Expected results of the project:</a:t>
            </a:r>
            <a:endParaRPr kumimoji="0" lang="en-US" altLang="en-US" sz="3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solidFill>
                <a:effectLst/>
                <a:latin typeface="Arial" panose="020B0604020202020204" pitchFamily="34" charset="0"/>
              </a:rPr>
              <a:t>A fully functional lost-and-found platform integrated with WhatsApp and web</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solidFill>
                <a:effectLst/>
                <a:latin typeface="Arial" panose="020B0604020202020204" pitchFamily="34" charset="0"/>
              </a:rPr>
              <a:t>Faster and more organized reporting of lost and found items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bg1"/>
                </a:solidFill>
                <a:effectLst/>
                <a:latin typeface="Arial" panose="020B0604020202020204" pitchFamily="34" charset="0"/>
              </a:rPr>
              <a:t>Increased chances of item recovery through better visibility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bg1"/>
              </a:solidFill>
              <a:effectLst/>
              <a:latin typeface="Arial" panose="020B0604020202020204" pitchFamily="34" charset="0"/>
            </a:endParaRPr>
          </a:p>
        </p:txBody>
      </p:sp>
      <p:sp>
        <p:nvSpPr>
          <p:cNvPr id="13" name="Rectangle 2">
            <a:extLst>
              <a:ext uri="{FF2B5EF4-FFF2-40B4-BE49-F238E27FC236}">
                <a16:creationId xmlns:a16="http://schemas.microsoft.com/office/drawing/2014/main" id="{614165E9-74E9-DDF6-1383-F2F8C00C9B8F}"/>
              </a:ext>
            </a:extLst>
          </p:cNvPr>
          <p:cNvSpPr>
            <a:spLocks noChangeArrowheads="1"/>
          </p:cNvSpPr>
          <p:nvPr/>
        </p:nvSpPr>
        <p:spPr bwMode="auto">
          <a:xfrm>
            <a:off x="0" y="457200"/>
            <a:ext cx="18288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Rectangle 3">
            <a:extLst>
              <a:ext uri="{FF2B5EF4-FFF2-40B4-BE49-F238E27FC236}">
                <a16:creationId xmlns:a16="http://schemas.microsoft.com/office/drawing/2014/main" id="{B270CC00-90EF-BBAC-2AB7-B875EA2857D7}"/>
              </a:ext>
            </a:extLst>
          </p:cNvPr>
          <p:cNvSpPr>
            <a:spLocks noChangeArrowheads="1"/>
          </p:cNvSpPr>
          <p:nvPr/>
        </p:nvSpPr>
        <p:spPr bwMode="auto">
          <a:xfrm>
            <a:off x="891778" y="2737798"/>
            <a:ext cx="708559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bg1"/>
                </a:solidFill>
                <a:effectLst/>
                <a:latin typeface="Arial" panose="020B0604020202020204" pitchFamily="34" charset="0"/>
              </a:rPr>
              <a:t>• Benefits to users:</a:t>
            </a: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bg1"/>
                </a:solidFill>
                <a:effectLst/>
                <a:latin typeface="Arial" panose="020B0604020202020204" pitchFamily="34" charset="0"/>
              </a:rPr>
              <a:t>Easy reporting using WhatsApp or website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bg1"/>
                </a:solidFill>
                <a:effectLst/>
                <a:latin typeface="Arial" panose="020B0604020202020204" pitchFamily="34" charset="0"/>
              </a:rPr>
              <a:t>Quick search and tracking of lost items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bg1"/>
                </a:solidFill>
                <a:effectLst/>
                <a:latin typeface="Arial" panose="020B0604020202020204" pitchFamily="34" charset="0"/>
              </a:rPr>
              <a:t>Secure and verified claiming process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bg1"/>
                </a:solidFill>
                <a:effectLst/>
                <a:latin typeface="Arial" panose="020B0604020202020204" pitchFamily="34" charset="0"/>
              </a:rPr>
              <a:t>Saves time and reduces confusion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bg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96504CC0-4937-6B78-D715-93016FF59064}"/>
              </a:ext>
            </a:extLst>
          </p:cNvPr>
          <p:cNvSpPr>
            <a:spLocks noChangeArrowheads="1"/>
          </p:cNvSpPr>
          <p:nvPr/>
        </p:nvSpPr>
        <p:spPr bwMode="auto">
          <a:xfrm>
            <a:off x="0" y="930275"/>
            <a:ext cx="18288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5">
            <a:extLst>
              <a:ext uri="{FF2B5EF4-FFF2-40B4-BE49-F238E27FC236}">
                <a16:creationId xmlns:a16="http://schemas.microsoft.com/office/drawing/2014/main" id="{6F05C44B-3555-5649-7981-2ABEEF97ECCD}"/>
              </a:ext>
            </a:extLst>
          </p:cNvPr>
          <p:cNvSpPr>
            <a:spLocks noChangeArrowheads="1"/>
          </p:cNvSpPr>
          <p:nvPr/>
        </p:nvSpPr>
        <p:spPr bwMode="auto">
          <a:xfrm>
            <a:off x="7868852" y="3081217"/>
            <a:ext cx="1016098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bg1"/>
                </a:solidFill>
                <a:effectLst/>
                <a:latin typeface="Arial" panose="020B0604020202020204" pitchFamily="34" charset="0"/>
              </a:rPr>
              <a:t>• Real-world impact:</a:t>
            </a:r>
            <a:endParaRPr kumimoji="0" lang="en-US" altLang="en-US" sz="24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Improves efficiency of lost-and-found systems in campuses/communities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Reduces dependency on scattered communication channels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Builds trust and accountability through a structured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Can be scaled to colleges, cities, or public places**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13" b="-9313"/>
            </a:stretch>
          </a:blipFill>
        </p:spPr>
        <p:txBody>
          <a:bodyPr/>
          <a:lstStyle/>
          <a:p>
            <a:endParaRPr lang="en-IN"/>
          </a:p>
        </p:txBody>
      </p:sp>
      <p:sp>
        <p:nvSpPr>
          <p:cNvPr id="3" name="TextBox 3"/>
          <p:cNvSpPr txBox="1"/>
          <p:nvPr/>
        </p:nvSpPr>
        <p:spPr>
          <a:xfrm>
            <a:off x="4503647" y="331023"/>
            <a:ext cx="9836646" cy="892175"/>
          </a:xfrm>
          <a:prstGeom prst="rect">
            <a:avLst/>
          </a:prstGeom>
        </p:spPr>
        <p:txBody>
          <a:bodyPr lIns="0" tIns="0" rIns="0" bIns="0" rtlCol="0" anchor="t">
            <a:spAutoFit/>
          </a:bodyPr>
          <a:lstStyle/>
          <a:p>
            <a:pPr algn="ctr">
              <a:lnSpc>
                <a:spcPts val="7000"/>
              </a:lnSpc>
              <a:spcBef>
                <a:spcPct val="0"/>
              </a:spcBef>
            </a:pPr>
            <a:r>
              <a:rPr lang="en-US" sz="5000" b="1" spc="-400">
                <a:solidFill>
                  <a:srgbClr val="FFFFFF"/>
                </a:solidFill>
                <a:latin typeface="Times New Roman Bold"/>
                <a:ea typeface="Times New Roman Bold"/>
                <a:cs typeface="Times New Roman Bold"/>
                <a:sym typeface="Times New Roman Bold"/>
              </a:rPr>
              <a:t>FUTURE  SCOPE  AND  CONCLUSION</a:t>
            </a:r>
          </a:p>
        </p:txBody>
      </p:sp>
      <p:grpSp>
        <p:nvGrpSpPr>
          <p:cNvPr id="7" name="Group 7"/>
          <p:cNvGrpSpPr/>
          <p:nvPr/>
        </p:nvGrpSpPr>
        <p:grpSpPr>
          <a:xfrm>
            <a:off x="1136043" y="1423973"/>
            <a:ext cx="16230600" cy="149974"/>
            <a:chOff x="0" y="0"/>
            <a:chExt cx="4052983" cy="37450"/>
          </a:xfrm>
        </p:grpSpPr>
        <p:sp>
          <p:nvSpPr>
            <p:cNvPr id="8" name="Freeform 8"/>
            <p:cNvSpPr/>
            <p:nvPr/>
          </p:nvSpPr>
          <p:spPr>
            <a:xfrm>
              <a:off x="0" y="0"/>
              <a:ext cx="4052983" cy="37450"/>
            </a:xfrm>
            <a:custGeom>
              <a:avLst/>
              <a:gdLst/>
              <a:ahLst/>
              <a:cxnLst/>
              <a:rect l="l" t="t" r="r" b="b"/>
              <a:pathLst>
                <a:path w="4052983" h="37450">
                  <a:moveTo>
                    <a:pt x="0" y="0"/>
                  </a:moveTo>
                  <a:lnTo>
                    <a:pt x="4052983" y="0"/>
                  </a:lnTo>
                  <a:lnTo>
                    <a:pt x="4052983" y="37450"/>
                  </a:lnTo>
                  <a:lnTo>
                    <a:pt x="0" y="37450"/>
                  </a:lnTo>
                  <a:close/>
                </a:path>
              </a:pathLst>
            </a:custGeom>
            <a:gradFill rotWithShape="1">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txBody>
            <a:bodyPr/>
            <a:lstStyle/>
            <a:p>
              <a:endParaRPr lang="en-IN"/>
            </a:p>
          </p:txBody>
        </p:sp>
        <p:sp>
          <p:nvSpPr>
            <p:cNvPr id="9" name="TextBox 9"/>
            <p:cNvSpPr txBox="1"/>
            <p:nvPr/>
          </p:nvSpPr>
          <p:spPr>
            <a:xfrm>
              <a:off x="0" y="-38100"/>
              <a:ext cx="4052983" cy="7555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633296" y="575308"/>
            <a:ext cx="2131575" cy="1004833"/>
          </a:xfrm>
          <a:custGeom>
            <a:avLst/>
            <a:gdLst/>
            <a:ahLst/>
            <a:cxnLst/>
            <a:rect l="l" t="t" r="r" b="b"/>
            <a:pathLst>
              <a:path w="2131575" h="1004833">
                <a:moveTo>
                  <a:pt x="0" y="0"/>
                </a:moveTo>
                <a:lnTo>
                  <a:pt x="2131575" y="0"/>
                </a:lnTo>
                <a:lnTo>
                  <a:pt x="2131575" y="1004833"/>
                </a:lnTo>
                <a:lnTo>
                  <a:pt x="0" y="1004833"/>
                </a:lnTo>
                <a:lnTo>
                  <a:pt x="0" y="0"/>
                </a:lnTo>
                <a:close/>
              </a:path>
            </a:pathLst>
          </a:custGeom>
          <a:blipFill>
            <a:blip r:embed="rId4"/>
            <a:stretch>
              <a:fillRect/>
            </a:stretch>
          </a:blipFill>
        </p:spPr>
        <p:txBody>
          <a:bodyPr/>
          <a:lstStyle/>
          <a:p>
            <a:endParaRPr lang="en-IN"/>
          </a:p>
        </p:txBody>
      </p:sp>
      <p:sp>
        <p:nvSpPr>
          <p:cNvPr id="11" name="Freeform 11"/>
          <p:cNvSpPr/>
          <p:nvPr/>
        </p:nvSpPr>
        <p:spPr>
          <a:xfrm>
            <a:off x="15978666" y="-269126"/>
            <a:ext cx="2475692" cy="2475692"/>
          </a:xfrm>
          <a:custGeom>
            <a:avLst/>
            <a:gdLst/>
            <a:ahLst/>
            <a:cxnLst/>
            <a:rect l="l" t="t" r="r" b="b"/>
            <a:pathLst>
              <a:path w="2475692" h="2475692">
                <a:moveTo>
                  <a:pt x="0" y="0"/>
                </a:moveTo>
                <a:lnTo>
                  <a:pt x="2475692" y="0"/>
                </a:lnTo>
                <a:lnTo>
                  <a:pt x="2475692" y="2475692"/>
                </a:lnTo>
                <a:lnTo>
                  <a:pt x="0" y="2475692"/>
                </a:lnTo>
                <a:lnTo>
                  <a:pt x="0" y="0"/>
                </a:lnTo>
                <a:close/>
              </a:path>
            </a:pathLst>
          </a:custGeom>
          <a:blipFill>
            <a:blip r:embed="rId5"/>
            <a:stretch>
              <a:fillRect/>
            </a:stretch>
          </a:blipFill>
        </p:spPr>
        <p:txBody>
          <a:bodyPr/>
          <a:lstStyle/>
          <a:p>
            <a:endParaRPr lang="en-IN"/>
          </a:p>
        </p:txBody>
      </p:sp>
      <p:sp>
        <p:nvSpPr>
          <p:cNvPr id="12" name="Rectangle 1">
            <a:extLst>
              <a:ext uri="{FF2B5EF4-FFF2-40B4-BE49-F238E27FC236}">
                <a16:creationId xmlns:a16="http://schemas.microsoft.com/office/drawing/2014/main" id="{F56D02A8-787F-FDAD-7EC9-23D960E59934}"/>
              </a:ext>
            </a:extLst>
          </p:cNvPr>
          <p:cNvSpPr>
            <a:spLocks noChangeArrowheads="1"/>
          </p:cNvSpPr>
          <p:nvPr/>
        </p:nvSpPr>
        <p:spPr bwMode="auto">
          <a:xfrm>
            <a:off x="633296" y="3985370"/>
            <a:ext cx="847379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bg1"/>
                </a:solidFill>
                <a:effectLst/>
                <a:latin typeface="Arial" panose="020B0604020202020204" pitchFamily="34" charset="0"/>
              </a:rPr>
              <a:t>• Future improvements:</a:t>
            </a:r>
            <a:endParaRPr kumimoji="0" lang="en-US" altLang="en-US" sz="24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AI-based matching to automatically link lost and found items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Image recognition for identifying items from photos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Mobile app version for better accessibility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Notification system for instant updates on matching items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bg1"/>
                </a:solidFill>
                <a:effectLst/>
                <a:latin typeface="Arial" panose="020B0604020202020204" pitchFamily="34" charset="0"/>
              </a:rPr>
              <a:t>Integration with campus systems or ID verification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sp>
        <p:nvSpPr>
          <p:cNvPr id="13" name="Rectangle 2">
            <a:extLst>
              <a:ext uri="{FF2B5EF4-FFF2-40B4-BE49-F238E27FC236}">
                <a16:creationId xmlns:a16="http://schemas.microsoft.com/office/drawing/2014/main" id="{CECBCD0F-6923-8D1F-27F8-AE1023107367}"/>
              </a:ext>
            </a:extLst>
          </p:cNvPr>
          <p:cNvSpPr>
            <a:spLocks noChangeArrowheads="1"/>
          </p:cNvSpPr>
          <p:nvPr/>
        </p:nvSpPr>
        <p:spPr bwMode="auto">
          <a:xfrm>
            <a:off x="0" y="457200"/>
            <a:ext cx="18288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Rectangle 3">
            <a:extLst>
              <a:ext uri="{FF2B5EF4-FFF2-40B4-BE49-F238E27FC236}">
                <a16:creationId xmlns:a16="http://schemas.microsoft.com/office/drawing/2014/main" id="{FEAE79BC-5633-1F55-3F94-353ED1BB7E96}"/>
              </a:ext>
            </a:extLst>
          </p:cNvPr>
          <p:cNvSpPr>
            <a:spLocks noChangeArrowheads="1"/>
          </p:cNvSpPr>
          <p:nvPr/>
        </p:nvSpPr>
        <p:spPr bwMode="auto">
          <a:xfrm>
            <a:off x="9180911" y="4560123"/>
            <a:ext cx="891579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bg1"/>
                </a:solidFill>
                <a:effectLst/>
                <a:latin typeface="Arial" panose="020B0604020202020204" pitchFamily="34" charset="0"/>
              </a:rPr>
              <a:t>• Final summary:</a:t>
            </a:r>
            <a:br>
              <a:rPr kumimoji="0" lang="en-US" altLang="en-US" sz="3600" b="0" i="0" u="none" strike="noStrike" cap="none" normalizeH="0" baseline="0" dirty="0">
                <a:ln>
                  <a:noFill/>
                </a:ln>
                <a:solidFill>
                  <a:schemeClr val="bg1"/>
                </a:solidFill>
                <a:effectLst/>
                <a:latin typeface="Arial" panose="020B0604020202020204" pitchFamily="34" charset="0"/>
              </a:rPr>
            </a:br>
            <a:r>
              <a:rPr kumimoji="0" lang="en-US" altLang="en-US" sz="3600" b="0" i="0" u="none" strike="noStrike" cap="none" normalizeH="0" baseline="0" dirty="0">
                <a:ln>
                  <a:noFill/>
                </a:ln>
                <a:solidFill>
                  <a:schemeClr val="bg1"/>
                </a:solidFill>
                <a:effectLst/>
                <a:latin typeface="Arial" panose="020B0604020202020204" pitchFamily="34" charset="0"/>
              </a:rPr>
              <a:t>This project provides a smart and practical solution to the unorganized lost-and-found system by combining WhatsApp and a centralized website. It improves visibility, simplifies reporting, and ensures secure item recovery through verification.</a:t>
            </a:r>
          </a:p>
        </p:txBody>
      </p:sp>
      <p:sp>
        <p:nvSpPr>
          <p:cNvPr id="15" name="Rectangle 4">
            <a:extLst>
              <a:ext uri="{FF2B5EF4-FFF2-40B4-BE49-F238E27FC236}">
                <a16:creationId xmlns:a16="http://schemas.microsoft.com/office/drawing/2014/main" id="{9A717E91-9DB4-D2F2-8E95-23B7E751610F}"/>
              </a:ext>
            </a:extLst>
          </p:cNvPr>
          <p:cNvSpPr>
            <a:spLocks noChangeArrowheads="1"/>
          </p:cNvSpPr>
          <p:nvPr/>
        </p:nvSpPr>
        <p:spPr bwMode="auto">
          <a:xfrm>
            <a:off x="0" y="930275"/>
            <a:ext cx="18288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6" name="Rectangle 5">
            <a:extLst>
              <a:ext uri="{FF2B5EF4-FFF2-40B4-BE49-F238E27FC236}">
                <a16:creationId xmlns:a16="http://schemas.microsoft.com/office/drawing/2014/main" id="{C45C8812-D9E0-84AC-F81E-A30942EB2A3C}"/>
              </a:ext>
            </a:extLst>
          </p:cNvPr>
          <p:cNvSpPr>
            <a:spLocks noChangeArrowheads="1"/>
          </p:cNvSpPr>
          <p:nvPr/>
        </p:nvSpPr>
        <p:spPr bwMode="auto">
          <a:xfrm>
            <a:off x="633296" y="2083414"/>
            <a:ext cx="1052749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bg1"/>
                </a:solidFill>
                <a:effectLst/>
                <a:latin typeface="Arial" panose="020B0604020202020204" pitchFamily="34" charset="0"/>
              </a:rPr>
              <a:t>• Scalability of the project:</a:t>
            </a:r>
            <a:endParaRPr kumimoji="0" lang="en-US" altLang="en-US" sz="2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bg1"/>
                </a:solidFill>
                <a:effectLst/>
                <a:latin typeface="Arial" panose="020B0604020202020204" pitchFamily="34" charset="0"/>
              </a:rPr>
              <a:t>Supports large user base with scalable MERN architecture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bg1"/>
                </a:solidFill>
                <a:effectLst/>
                <a:latin typeface="Arial" panose="020B0604020202020204" pitchFamily="34" charset="0"/>
              </a:rPr>
              <a:t>Can integrate with multiple platforms (Telegram, apps, websites)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bg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1282</Words>
  <Application>Microsoft Office PowerPoint</Application>
  <PresentationFormat>Custom</PresentationFormat>
  <Paragraphs>117</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Arial Unicode MS</vt:lpstr>
      <vt:lpstr>Calibri</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varun</dc:creator>
  <cp:lastModifiedBy>varunkushwah500@outlook.com</cp:lastModifiedBy>
  <cp:revision>2</cp:revision>
  <dcterms:modified xsi:type="dcterms:W3CDTF">2026-04-02T10:54:47Z</dcterms:modified>
</cp:coreProperties>
</file>